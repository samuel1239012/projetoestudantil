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21599525" cy="32399288"/>
  <p:notesSz cx="6858000" cy="9144000"/>
  <p:defaultTextStyle>
    <a:defPPr>
      <a:defRPr lang="pt-BR"/>
    </a:defPPr>
    <a:lvl1pPr marL="0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1pPr>
    <a:lvl2pPr marL="1204132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2pPr>
    <a:lvl3pPr marL="2408265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3pPr>
    <a:lvl4pPr marL="3612398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4pPr>
    <a:lvl5pPr marL="4816529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5pPr>
    <a:lvl6pPr marL="6020661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6pPr>
    <a:lvl7pPr marL="7224793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7pPr>
    <a:lvl8pPr marL="8428926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8pPr>
    <a:lvl9pPr marL="9633059" algn="l" defTabSz="2408265" rtl="0" eaLnBrk="1" latinLnBrk="0" hangingPunct="1">
      <a:defRPr sz="474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13ED1-1615-B980-E814-ABDF7A6153A6}" v="366" dt="2023-10-25T12:49:07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25" d="100"/>
          <a:sy n="25" d="100"/>
        </p:scale>
        <p:origin x="31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06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26"/>
            </a:lvl1pPr>
            <a:lvl2pPr marL="1071809" indent="0" algn="ctr">
              <a:buNone/>
              <a:defRPr sz="4689"/>
            </a:lvl2pPr>
            <a:lvl3pPr marL="2143618" indent="0" algn="ctr">
              <a:buNone/>
              <a:defRPr sz="4220"/>
            </a:lvl3pPr>
            <a:lvl4pPr marL="3215427" indent="0" algn="ctr">
              <a:buNone/>
              <a:defRPr sz="3751"/>
            </a:lvl4pPr>
            <a:lvl5pPr marL="4287235" indent="0" algn="ctr">
              <a:buNone/>
              <a:defRPr sz="3751"/>
            </a:lvl5pPr>
            <a:lvl6pPr marL="5359045" indent="0" algn="ctr">
              <a:buNone/>
              <a:defRPr sz="3751"/>
            </a:lvl6pPr>
            <a:lvl7pPr marL="6430853" indent="0" algn="ctr">
              <a:buNone/>
              <a:defRPr sz="3751"/>
            </a:lvl7pPr>
            <a:lvl8pPr marL="7502662" indent="0" algn="ctr">
              <a:buNone/>
              <a:defRPr sz="3751"/>
            </a:lvl8pPr>
            <a:lvl9pPr marL="8574471" indent="0" algn="ctr">
              <a:buNone/>
              <a:defRPr sz="375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06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313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20" y="8077332"/>
            <a:ext cx="18629590" cy="13477201"/>
          </a:xfrm>
        </p:spPr>
        <p:txBody>
          <a:bodyPr anchor="b"/>
          <a:lstStyle>
            <a:lvl1pPr>
              <a:defRPr sz="1406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20" y="21682033"/>
            <a:ext cx="18629590" cy="7087342"/>
          </a:xfrm>
        </p:spPr>
        <p:txBody>
          <a:bodyPr/>
          <a:lstStyle>
            <a:lvl1pPr marL="0" indent="0">
              <a:buNone/>
              <a:defRPr sz="5626">
                <a:solidFill>
                  <a:schemeClr val="tx1"/>
                </a:solidFill>
              </a:defRPr>
            </a:lvl1pPr>
            <a:lvl2pPr marL="1071809" indent="0">
              <a:buNone/>
              <a:defRPr sz="4689">
                <a:solidFill>
                  <a:schemeClr val="tx1">
                    <a:tint val="75000"/>
                  </a:schemeClr>
                </a:solidFill>
              </a:defRPr>
            </a:lvl2pPr>
            <a:lvl3pPr marL="2143618" indent="0">
              <a:buNone/>
              <a:defRPr sz="4220">
                <a:solidFill>
                  <a:schemeClr val="tx1">
                    <a:tint val="75000"/>
                  </a:schemeClr>
                </a:solidFill>
              </a:defRPr>
            </a:lvl3pPr>
            <a:lvl4pPr marL="3215427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4pPr>
            <a:lvl5pPr marL="4287235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5pPr>
            <a:lvl6pPr marL="5359045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6pPr>
            <a:lvl7pPr marL="6430853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7pPr>
            <a:lvl8pPr marL="7502662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8pPr>
            <a:lvl9pPr marL="8574471" indent="0">
              <a:buNone/>
              <a:defRPr sz="37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088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8" y="8624812"/>
            <a:ext cx="9179798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2"/>
            <a:ext cx="9179798" cy="2055705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02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70"/>
            <a:ext cx="18629590" cy="626236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4" y="7942328"/>
            <a:ext cx="9137610" cy="3892412"/>
          </a:xfrm>
        </p:spPr>
        <p:txBody>
          <a:bodyPr anchor="b"/>
          <a:lstStyle>
            <a:lvl1pPr marL="0" indent="0">
              <a:buNone/>
              <a:defRPr sz="5626" b="1"/>
            </a:lvl1pPr>
            <a:lvl2pPr marL="1071809" indent="0">
              <a:buNone/>
              <a:defRPr sz="4689" b="1"/>
            </a:lvl2pPr>
            <a:lvl3pPr marL="2143618" indent="0">
              <a:buNone/>
              <a:defRPr sz="4220" b="1"/>
            </a:lvl3pPr>
            <a:lvl4pPr marL="3215427" indent="0">
              <a:buNone/>
              <a:defRPr sz="3751" b="1"/>
            </a:lvl4pPr>
            <a:lvl5pPr marL="4287235" indent="0">
              <a:buNone/>
              <a:defRPr sz="3751" b="1"/>
            </a:lvl5pPr>
            <a:lvl6pPr marL="5359045" indent="0">
              <a:buNone/>
              <a:defRPr sz="3751" b="1"/>
            </a:lvl6pPr>
            <a:lvl7pPr marL="6430853" indent="0">
              <a:buNone/>
              <a:defRPr sz="3751" b="1"/>
            </a:lvl7pPr>
            <a:lvl8pPr marL="7502662" indent="0">
              <a:buNone/>
              <a:defRPr sz="3751" b="1"/>
            </a:lvl8pPr>
            <a:lvl9pPr marL="8574471" indent="0">
              <a:buNone/>
              <a:defRPr sz="3751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4" y="11834740"/>
            <a:ext cx="9137610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4" y="7942328"/>
            <a:ext cx="9182611" cy="3892412"/>
          </a:xfrm>
        </p:spPr>
        <p:txBody>
          <a:bodyPr anchor="b"/>
          <a:lstStyle>
            <a:lvl1pPr marL="0" indent="0">
              <a:buNone/>
              <a:defRPr sz="5626" b="1"/>
            </a:lvl1pPr>
            <a:lvl2pPr marL="1071809" indent="0">
              <a:buNone/>
              <a:defRPr sz="4689" b="1"/>
            </a:lvl2pPr>
            <a:lvl3pPr marL="2143618" indent="0">
              <a:buNone/>
              <a:defRPr sz="4220" b="1"/>
            </a:lvl3pPr>
            <a:lvl4pPr marL="3215427" indent="0">
              <a:buNone/>
              <a:defRPr sz="3751" b="1"/>
            </a:lvl4pPr>
            <a:lvl5pPr marL="4287235" indent="0">
              <a:buNone/>
              <a:defRPr sz="3751" b="1"/>
            </a:lvl5pPr>
            <a:lvl6pPr marL="5359045" indent="0">
              <a:buNone/>
              <a:defRPr sz="3751" b="1"/>
            </a:lvl6pPr>
            <a:lvl7pPr marL="6430853" indent="0">
              <a:buNone/>
              <a:defRPr sz="3751" b="1"/>
            </a:lvl7pPr>
            <a:lvl8pPr marL="7502662" indent="0">
              <a:buNone/>
              <a:defRPr sz="3751" b="1"/>
            </a:lvl8pPr>
            <a:lvl9pPr marL="8574471" indent="0">
              <a:buNone/>
              <a:defRPr sz="3751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4" y="11834740"/>
            <a:ext cx="9182611" cy="1740712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768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11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250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3"/>
            <a:ext cx="6966409" cy="7559834"/>
          </a:xfrm>
        </p:spPr>
        <p:txBody>
          <a:bodyPr anchor="b"/>
          <a:lstStyle>
            <a:lvl1pPr>
              <a:defRPr sz="75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01"/>
            </a:lvl1pPr>
            <a:lvl2pPr>
              <a:defRPr sz="6564"/>
            </a:lvl2pPr>
            <a:lvl3pPr>
              <a:defRPr sz="5626"/>
            </a:lvl3pPr>
            <a:lvl4pPr>
              <a:defRPr sz="4689"/>
            </a:lvl4pPr>
            <a:lvl5pPr>
              <a:defRPr sz="4689"/>
            </a:lvl5pPr>
            <a:lvl6pPr>
              <a:defRPr sz="4689"/>
            </a:lvl6pPr>
            <a:lvl7pPr>
              <a:defRPr sz="4689"/>
            </a:lvl7pPr>
            <a:lvl8pPr>
              <a:defRPr sz="4689"/>
            </a:lvl8pPr>
            <a:lvl9pPr>
              <a:defRPr sz="4689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7"/>
            <a:ext cx="6966409" cy="18007107"/>
          </a:xfrm>
        </p:spPr>
        <p:txBody>
          <a:bodyPr/>
          <a:lstStyle>
            <a:lvl1pPr marL="0" indent="0">
              <a:buNone/>
              <a:defRPr sz="3751"/>
            </a:lvl1pPr>
            <a:lvl2pPr marL="1071809" indent="0">
              <a:buNone/>
              <a:defRPr sz="3281"/>
            </a:lvl2pPr>
            <a:lvl3pPr marL="2143618" indent="0">
              <a:buNone/>
              <a:defRPr sz="2814"/>
            </a:lvl3pPr>
            <a:lvl4pPr marL="3215427" indent="0">
              <a:buNone/>
              <a:defRPr sz="2344"/>
            </a:lvl4pPr>
            <a:lvl5pPr marL="4287235" indent="0">
              <a:buNone/>
              <a:defRPr sz="2344"/>
            </a:lvl5pPr>
            <a:lvl6pPr marL="5359045" indent="0">
              <a:buNone/>
              <a:defRPr sz="2344"/>
            </a:lvl6pPr>
            <a:lvl7pPr marL="6430853" indent="0">
              <a:buNone/>
              <a:defRPr sz="2344"/>
            </a:lvl7pPr>
            <a:lvl8pPr marL="7502662" indent="0">
              <a:buNone/>
              <a:defRPr sz="2344"/>
            </a:lvl8pPr>
            <a:lvl9pPr marL="8574471" indent="0">
              <a:buNone/>
              <a:defRPr sz="2344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996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3"/>
            <a:ext cx="6966409" cy="7559834"/>
          </a:xfrm>
        </p:spPr>
        <p:txBody>
          <a:bodyPr anchor="b"/>
          <a:lstStyle>
            <a:lvl1pPr>
              <a:defRPr sz="75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01"/>
            </a:lvl1pPr>
            <a:lvl2pPr marL="1071809" indent="0">
              <a:buNone/>
              <a:defRPr sz="6564"/>
            </a:lvl2pPr>
            <a:lvl3pPr marL="2143618" indent="0">
              <a:buNone/>
              <a:defRPr sz="5626"/>
            </a:lvl3pPr>
            <a:lvl4pPr marL="3215427" indent="0">
              <a:buNone/>
              <a:defRPr sz="4689"/>
            </a:lvl4pPr>
            <a:lvl5pPr marL="4287235" indent="0">
              <a:buNone/>
              <a:defRPr sz="4689"/>
            </a:lvl5pPr>
            <a:lvl6pPr marL="5359045" indent="0">
              <a:buNone/>
              <a:defRPr sz="4689"/>
            </a:lvl6pPr>
            <a:lvl7pPr marL="6430853" indent="0">
              <a:buNone/>
              <a:defRPr sz="4689"/>
            </a:lvl7pPr>
            <a:lvl8pPr marL="7502662" indent="0">
              <a:buNone/>
              <a:defRPr sz="4689"/>
            </a:lvl8pPr>
            <a:lvl9pPr marL="8574471" indent="0">
              <a:buNone/>
              <a:defRPr sz="468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7"/>
            <a:ext cx="6966409" cy="18007107"/>
          </a:xfrm>
        </p:spPr>
        <p:txBody>
          <a:bodyPr/>
          <a:lstStyle>
            <a:lvl1pPr marL="0" indent="0">
              <a:buNone/>
              <a:defRPr sz="3751"/>
            </a:lvl1pPr>
            <a:lvl2pPr marL="1071809" indent="0">
              <a:buNone/>
              <a:defRPr sz="3281"/>
            </a:lvl2pPr>
            <a:lvl3pPr marL="2143618" indent="0">
              <a:buNone/>
              <a:defRPr sz="2814"/>
            </a:lvl3pPr>
            <a:lvl4pPr marL="3215427" indent="0">
              <a:buNone/>
              <a:defRPr sz="2344"/>
            </a:lvl4pPr>
            <a:lvl5pPr marL="4287235" indent="0">
              <a:buNone/>
              <a:defRPr sz="2344"/>
            </a:lvl5pPr>
            <a:lvl6pPr marL="5359045" indent="0">
              <a:buNone/>
              <a:defRPr sz="2344"/>
            </a:lvl6pPr>
            <a:lvl7pPr marL="6430853" indent="0">
              <a:buNone/>
              <a:defRPr sz="2344"/>
            </a:lvl7pPr>
            <a:lvl8pPr marL="7502662" indent="0">
              <a:buNone/>
              <a:defRPr sz="2344"/>
            </a:lvl8pPr>
            <a:lvl9pPr marL="8574471" indent="0">
              <a:buNone/>
              <a:defRPr sz="2344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70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67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3"/>
            <a:ext cx="4657397" cy="274568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70" y="1724963"/>
            <a:ext cx="13702198" cy="27456899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89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70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2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F635C-3488-4B8D-834C-FF56499C41A9}" type="datetimeFigureOut">
              <a:rPr lang="pt-BR" smtClean="0"/>
              <a:t>25/10/2023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91322-E31A-4CDE-BC37-53D75EAF2B0F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605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143618" rtl="0" eaLnBrk="1" latinLnBrk="0" hangingPunct="1">
        <a:lnSpc>
          <a:spcPct val="90000"/>
        </a:lnSpc>
        <a:spcBef>
          <a:spcPct val="0"/>
        </a:spcBef>
        <a:buNone/>
        <a:defRPr sz="10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905" indent="-535905" algn="l" defTabSz="2143618" rtl="0" eaLnBrk="1" latinLnBrk="0" hangingPunct="1">
        <a:lnSpc>
          <a:spcPct val="90000"/>
        </a:lnSpc>
        <a:spcBef>
          <a:spcPts val="2344"/>
        </a:spcBef>
        <a:buFont typeface="Arial" panose="020B0604020202020204" pitchFamily="34" charset="0"/>
        <a:buChar char="•"/>
        <a:defRPr sz="6564" kern="1200">
          <a:solidFill>
            <a:schemeClr val="tx1"/>
          </a:solidFill>
          <a:latin typeface="+mn-lt"/>
          <a:ea typeface="+mn-ea"/>
          <a:cs typeface="+mn-cs"/>
        </a:defRPr>
      </a:lvl1pPr>
      <a:lvl2pPr marL="1607714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5626" kern="1200">
          <a:solidFill>
            <a:schemeClr val="tx1"/>
          </a:solidFill>
          <a:latin typeface="+mn-lt"/>
          <a:ea typeface="+mn-ea"/>
          <a:cs typeface="+mn-cs"/>
        </a:defRPr>
      </a:lvl2pPr>
      <a:lvl3pPr marL="2679522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689" kern="1200">
          <a:solidFill>
            <a:schemeClr val="tx1"/>
          </a:solidFill>
          <a:latin typeface="+mn-lt"/>
          <a:ea typeface="+mn-ea"/>
          <a:cs typeface="+mn-cs"/>
        </a:defRPr>
      </a:lvl3pPr>
      <a:lvl4pPr marL="3751331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4pPr>
      <a:lvl5pPr marL="4823140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5pPr>
      <a:lvl6pPr marL="5894949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6pPr>
      <a:lvl7pPr marL="6966759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7pPr>
      <a:lvl8pPr marL="8038567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8pPr>
      <a:lvl9pPr marL="9110376" indent="-535905" algn="l" defTabSz="2143618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42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1pPr>
      <a:lvl2pPr marL="1071809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2pPr>
      <a:lvl3pPr marL="2143618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3pPr>
      <a:lvl4pPr marL="3215427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4pPr>
      <a:lvl5pPr marL="4287235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5pPr>
      <a:lvl6pPr marL="5359045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6pPr>
      <a:lvl7pPr marL="6430853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7pPr>
      <a:lvl8pPr marL="7502662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8pPr>
      <a:lvl9pPr marL="8574471" algn="l" defTabSz="2143618" rtl="0" eaLnBrk="1" latinLnBrk="0" hangingPunct="1">
        <a:defRPr sz="42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81629" y="1396786"/>
            <a:ext cx="19583342" cy="27927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pt-BR" sz="8000" b="1" dirty="0">
                <a:solidFill>
                  <a:schemeClr val="bg1"/>
                </a:solidFill>
                <a:latin typeface="Times New Roman"/>
                <a:ea typeface="+mj-lt"/>
                <a:cs typeface="Times New Roman"/>
              </a:rPr>
              <a:t>SÃO SEBASTIÃO NA ROTA DO TURISMO SOCIAL: UMA FORMA DE DEMOCRATIZAR O ACESSO AO LAZER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ubtítulo 2"/>
          <p:cNvSpPr>
            <a:spLocks noGrp="1"/>
          </p:cNvSpPr>
          <p:nvPr>
            <p:ph type="subTitle" idx="1"/>
          </p:nvPr>
        </p:nvSpPr>
        <p:spPr>
          <a:xfrm>
            <a:off x="1020714" y="9773262"/>
            <a:ext cx="9701191" cy="170943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Resumo Introdutório</a:t>
            </a:r>
          </a:p>
          <a:p>
            <a:pPr marL="571500" indent="-571500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O Turismo visto como NECESSIDADE;</a:t>
            </a:r>
          </a:p>
          <a:p>
            <a:pPr algn="just">
              <a:lnSpc>
                <a:spcPct val="100000"/>
              </a:lnSpc>
            </a:pPr>
            <a:endParaRPr lang="pt-BR" sz="3000" dirty="0">
              <a:latin typeface="Times New Roman"/>
              <a:cs typeface="Times New Roman"/>
            </a:endParaRPr>
          </a:p>
          <a:p>
            <a:pPr marL="571500" indent="-571500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DEMOCRATIZAR o Turismo como fenômeno que permite o acesso ao LAZER;</a:t>
            </a:r>
          </a:p>
          <a:p>
            <a:pPr algn="just">
              <a:lnSpc>
                <a:spcPct val="100000"/>
              </a:lnSpc>
            </a:pPr>
            <a:endParaRPr lang="pt-BR" sz="3000" dirty="0">
              <a:latin typeface="Times New Roman"/>
              <a:cs typeface="Times New Roman"/>
            </a:endParaRPr>
          </a:p>
          <a:p>
            <a:pPr marL="571500" indent="-571500" algn="just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Abordagem CONCEITUAL – Turismo Social;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/>
                <a:cs typeface="Times New Roman"/>
              </a:rPr>
              <a:t>Caracterização do objeto de estudo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4800" b="1" dirty="0">
              <a:solidFill>
                <a:srgbClr val="005C6D"/>
              </a:solidFill>
              <a:latin typeface="Times New Roman"/>
              <a:ea typeface="+mn-lt"/>
              <a:cs typeface="Times New Roman"/>
            </a:endParaRPr>
          </a:p>
          <a:p>
            <a:pPr marL="571500" indent="-571500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ea typeface="+mn-lt"/>
                <a:cs typeface="Times New Roman"/>
              </a:rPr>
              <a:t>São Sebastião como destino do Turismo Social – um olhar para São Sebastião;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endParaRPr lang="pt-BR" sz="30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571500" indent="-571500" algn="just">
              <a:lnSpc>
                <a:spcPct val="100000"/>
              </a:lnSpc>
              <a:spcBef>
                <a:spcPts val="0"/>
              </a:spcBef>
              <a:buFont typeface="Courier New" panose="020B0604020202020204" pitchFamily="34" charset="0"/>
              <a:buChar char="o"/>
            </a:pPr>
            <a:r>
              <a:rPr lang="pt-BR" sz="30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Investimento em viagem para alavancar o Turismo Social.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40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Materiais e Métodos</a:t>
            </a: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Roda do Conhecimento;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A relação Turismo Social e os 17 ODS – ONU;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Diretriz e Metas do Plano Nacional do Turismo relacionadas ao Turismo Social;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Diretrizes e Metas do Plano Diretor (Municipal) de São Sebastião relacionadas ao Turismo Social;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Portal do Turismo de São Sebastião.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006139" y="7502052"/>
            <a:ext cx="1955883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3000" b="1" dirty="0">
                <a:latin typeface="Times New Roman"/>
                <a:cs typeface="Times New Roman"/>
              </a:rPr>
              <a:t>Gaia Braga Schmidt Lins – E-mail: gaia.lins@etec.sp.gov.br</a:t>
            </a:r>
          </a:p>
          <a:p>
            <a:pPr algn="ctr"/>
            <a:r>
              <a:rPr lang="pt-BR" sz="3000" b="1" dirty="0">
                <a:latin typeface="Times New Roman"/>
                <a:cs typeface="Times New Roman"/>
              </a:rPr>
              <a:t>Prof. Esp. Rogério </a:t>
            </a:r>
            <a:r>
              <a:rPr lang="pt-BR" sz="3000" b="1" dirty="0" err="1">
                <a:latin typeface="Times New Roman"/>
                <a:cs typeface="Times New Roman"/>
              </a:rPr>
              <a:t>Luis</a:t>
            </a:r>
            <a:r>
              <a:rPr lang="pt-BR" sz="3000" b="1" dirty="0">
                <a:latin typeface="Times New Roman"/>
                <a:cs typeface="Times New Roman"/>
              </a:rPr>
              <a:t> Santana Barroso – E-mail: rogerio.barroso@etec.sp.gov.br</a:t>
            </a:r>
            <a:endParaRPr lang="pt-BR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981628" y="6093865"/>
            <a:ext cx="19583342" cy="12618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3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ETEC de São Sebastião – 188 | </a:t>
            </a:r>
            <a:r>
              <a:rPr lang="pt-BR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2ºSem./2023</a:t>
            </a:r>
          </a:p>
          <a:p>
            <a:pPr algn="ctr"/>
            <a:r>
              <a:rPr lang="pt-BR" sz="3800" b="1" dirty="0">
                <a:solidFill>
                  <a:schemeClr val="bg2">
                    <a:lumMod val="10000"/>
                  </a:schemeClr>
                </a:solidFill>
                <a:latin typeface="Times New Roman"/>
                <a:cs typeface="Times New Roman"/>
              </a:rPr>
              <a:t>TCC do </a:t>
            </a:r>
            <a:r>
              <a:rPr lang="pt-BR" sz="3800" b="1" dirty="0">
                <a:solidFill>
                  <a:srgbClr val="FF0000"/>
                </a:solidFill>
                <a:latin typeface="Times New Roman"/>
                <a:cs typeface="Times New Roman"/>
              </a:rPr>
              <a:t>Técnico em Agenciamento de Viagens</a:t>
            </a:r>
            <a:endParaRPr lang="pt-BR" sz="3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381318" y="28082237"/>
            <a:ext cx="16808473" cy="4515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137"/>
          </a:p>
        </p:txBody>
      </p:sp>
      <p:sp>
        <p:nvSpPr>
          <p:cNvPr id="16" name="Subtítulo 2"/>
          <p:cNvSpPr txBox="1">
            <a:spLocks/>
          </p:cNvSpPr>
          <p:nvPr/>
        </p:nvSpPr>
        <p:spPr>
          <a:xfrm>
            <a:off x="11070768" y="8895942"/>
            <a:ext cx="9708271" cy="19014269"/>
          </a:xfrm>
          <a:prstGeom prst="rect">
            <a:avLst/>
          </a:prstGeom>
        </p:spPr>
        <p:txBody>
          <a:bodyPr vert="horz" lIns="60510" tIns="30255" rIns="60510" bIns="30255" rtlCol="0" anchor="t">
            <a:normAutofit fontScale="92500" lnSpcReduction="20000"/>
          </a:bodyPr>
          <a:lstStyle>
            <a:lvl1pPr marL="0" indent="0" algn="ctr" defTabSz="3239902" rtl="0" eaLnBrk="1" latinLnBrk="0" hangingPunct="1">
              <a:lnSpc>
                <a:spcPct val="90000"/>
              </a:lnSpc>
              <a:spcBef>
                <a:spcPts val="3543"/>
              </a:spcBef>
              <a:buFont typeface="Arial" panose="020B0604020202020204" pitchFamily="34" charset="0"/>
              <a:buNone/>
              <a:defRPr sz="85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19951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7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39902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63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859853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79804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099755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719706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39657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959608" indent="0" algn="ctr" defTabSz="3239902" rtl="0" eaLnBrk="1" latinLnBrk="0" hangingPunct="1">
              <a:lnSpc>
                <a:spcPct val="90000"/>
              </a:lnSpc>
              <a:spcBef>
                <a:spcPts val="1772"/>
              </a:spcBef>
              <a:buFont typeface="Arial" panose="020B0604020202020204" pitchFamily="34" charset="0"/>
              <a:buNone/>
              <a:defRPr sz="56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 Discussões</a:t>
            </a: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Os ODS abordados como referência de pesquisa;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Plano Nacional do Turismo – Página 36: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000" dirty="0">
                <a:latin typeface="Times New Roman"/>
                <a:cs typeface="Times New Roman"/>
              </a:rPr>
              <a:t>Gráfico 12: % de domicílios com moradores que viajaram em 2017 por classe de renda domiciliar</a:t>
            </a:r>
            <a:endParaRPr lang="pt-BR" sz="3000">
              <a:latin typeface="Calibri"/>
              <a:ea typeface="Calibri"/>
              <a:cs typeface="Calibri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pt-BR" sz="3000" dirty="0">
                <a:latin typeface="Times New Roman"/>
                <a:cs typeface="Times New Roman"/>
              </a:rPr>
              <a:t>Gráfico 13: motivo para não realização de viagens em 2017 (%)</a:t>
            </a:r>
            <a:endParaRPr lang="pt-BR" sz="3000">
              <a:latin typeface="Calibri"/>
              <a:ea typeface="Calibri"/>
              <a:cs typeface="Calibri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Plano Diretor de Turismo de São Sebastião – Promoção da Sustentabilidade - Estratégia 10 - Inclusão social na cadeia produtiva do turismo</a:t>
            </a:r>
            <a:endParaRPr lang="pt-BR" sz="3000"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Portal do Turismo de São Sebastião</a:t>
            </a:r>
            <a:endParaRPr lang="pt-BR" sz="3000" dirty="0">
              <a:ea typeface="Calibri" panose="020F0502020204030204"/>
              <a:cs typeface="Calibri" panose="020F0502020204030204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Considerações Finais / Conclusão</a:t>
            </a: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O trabalho de pesquisa pretende:</a:t>
            </a:r>
            <a:endParaRPr lang="pt-BR" sz="3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Criar o Selo de Confiabilidade e Incentivo do Turismo Social como projeto de lei;</a:t>
            </a:r>
            <a:endParaRPr lang="pt-BR" sz="3000">
              <a:latin typeface="Calibri" panose="020F0502020204030204"/>
              <a:ea typeface="Calibri"/>
              <a:cs typeface="Calibri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Facilitar agências que organizam excursões e atividades de lazer a baixo custo a visitar o destino;</a:t>
            </a:r>
            <a:endParaRPr lang="pt-BR" sz="3000">
              <a:ea typeface="Calibri"/>
              <a:cs typeface="Calibri"/>
            </a:endParaRPr>
          </a:p>
          <a:p>
            <a:pPr marL="571500" indent="-571500" algn="just">
              <a:buFont typeface="Courier New" panose="020B0604020202020204" pitchFamily="34" charset="0"/>
              <a:buChar char="o"/>
            </a:pPr>
            <a:r>
              <a:rPr lang="pt-BR" sz="3000" dirty="0">
                <a:latin typeface="Times New Roman"/>
                <a:cs typeface="Times New Roman"/>
              </a:rPr>
              <a:t>Formatar roteiros específicos: com tarifário atraente durante o pós temporada de verão;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pt-B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pt-BR" sz="4800" b="1" dirty="0">
                <a:solidFill>
                  <a:srgbClr val="005C6D"/>
                </a:solidFill>
                <a:latin typeface="Times New Roman"/>
                <a:cs typeface="Times New Roman"/>
              </a:rPr>
              <a:t>Referências</a:t>
            </a: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Ministério do Turismo – Plano Nacional do Turismo. Portal: https://www.gov.br/turismo/pt-br</a:t>
            </a:r>
            <a:endParaRPr lang="pt-BR" sz="3200">
              <a:ea typeface="Calibri"/>
              <a:cs typeface="Calibri"/>
            </a:endParaRP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Prefeitura de São Sebastião – Secretaria Municipal de Turismo. Portal: https://www.turismosaosebastiao.com.br</a:t>
            </a:r>
            <a:endParaRPr lang="pt-BR" sz="3200">
              <a:ea typeface="Calibri"/>
              <a:cs typeface="Calibri"/>
            </a:endParaRP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Circuito Litoral Norte de São Paulo. Programa Nacional de Regionalização do Turismo. Portal: https://www.circuitolitoralnorte.tur.br/</a:t>
            </a:r>
            <a:endParaRPr lang="pt-BR" sz="3200">
              <a:ea typeface="Calibri"/>
              <a:cs typeface="Calibri"/>
            </a:endParaRP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Plano Nacional do Turismo</a:t>
            </a:r>
            <a:endParaRPr lang="pt-BR" sz="3200">
              <a:ea typeface="Calibri"/>
              <a:cs typeface="Calibri"/>
            </a:endParaRP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Plano Diretor do Turismo de São Sebastião</a:t>
            </a:r>
            <a:endParaRPr lang="pt-BR" sz="3200">
              <a:ea typeface="Calibri"/>
              <a:cs typeface="Calibri"/>
            </a:endParaRPr>
          </a:p>
          <a:p>
            <a:pPr algn="just">
              <a:lnSpc>
                <a:spcPct val="80000"/>
              </a:lnSpc>
            </a:pPr>
            <a:r>
              <a:rPr lang="pt-BR" sz="3200" dirty="0">
                <a:latin typeface="Times New Roman"/>
                <a:ea typeface="+mn-lt"/>
                <a:cs typeface="Times New Roman"/>
              </a:rPr>
              <a:t>Organização das Nações Unidas – ODS. Programa de Desenvolvimento. Objetivos de Desenvolvimento Sustentável. Portal: https://www.undp.org/sustainable-development-goals</a:t>
            </a:r>
            <a:endParaRPr lang="pt-BR" sz="3200" dirty="0"/>
          </a:p>
        </p:txBody>
      </p:sp>
      <p:sp>
        <p:nvSpPr>
          <p:cNvPr id="4" name="Retângulo 3"/>
          <p:cNvSpPr/>
          <p:nvPr/>
        </p:nvSpPr>
        <p:spPr>
          <a:xfrm>
            <a:off x="6496050" y="28241694"/>
            <a:ext cx="3448050" cy="21240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73" y="28411033"/>
            <a:ext cx="1678227" cy="158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898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F71A7753-83F7-4338-AE25-C23EB0C744BC}" vid="{2FCFFA2B-92A1-4A98-AA29-08ADD526446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192</TotalTime>
  <Words>425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Tema1</vt:lpstr>
      <vt:lpstr>SÃO SEBASTIÃO NA ROTA DO TURISMO SOCIAL: UMA FORMA DE DEMOCRATIZAR O ACESSO AO LAZER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Cliente</dc:creator>
  <cp:lastModifiedBy>Myrian Cristina</cp:lastModifiedBy>
  <cp:revision>165</cp:revision>
  <dcterms:created xsi:type="dcterms:W3CDTF">2023-06-11T02:57:09Z</dcterms:created>
  <dcterms:modified xsi:type="dcterms:W3CDTF">2023-10-25T14:10:57Z</dcterms:modified>
</cp:coreProperties>
</file>